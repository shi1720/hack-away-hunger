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13604112c4d4f8c" /><Relationship Type="http://schemas.openxmlformats.org/officeDocument/2006/relationships/extended-properties" Target="/docProps/app.xml" Id="R05ffea04f0374d7d" /><Relationship Type="http://schemas.openxmlformats.org/officeDocument/2006/relationships/officeDocument" Target="/ppt/presentation.xml" Id="R3c2aaf83317944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bac1d675ad4871"/>
  </p:sldMasterIdLst>
  <p:notesMasterIdLst>
    <p:notesMasterId xmlns:r="http://schemas.openxmlformats.org/officeDocument/2006/relationships" r:id="Ra53b9b77742d4dac"/>
  </p:notesMasterIdLst>
  <p:sldIdLst>
    <p:sldId xmlns:r="http://schemas.openxmlformats.org/officeDocument/2006/relationships" id="256" r:id="R58bcde93f64c4f97"/>
    <p:sldId xmlns:r="http://schemas.openxmlformats.org/officeDocument/2006/relationships" id="257" r:id="R88b1332be61a4ef5"/>
    <p:sldId xmlns:r="http://schemas.openxmlformats.org/officeDocument/2006/relationships" id="258" r:id="R34179bdc1a9f4c17"/>
    <p:sldId xmlns:r="http://schemas.openxmlformats.org/officeDocument/2006/relationships" id="259" r:id="Rc9c928738abf4b9f"/>
    <p:sldId xmlns:r="http://schemas.openxmlformats.org/officeDocument/2006/relationships" id="260" r:id="R60266de79b6c4df4"/>
    <p:sldId xmlns:r="http://schemas.openxmlformats.org/officeDocument/2006/relationships" id="261" r:id="R3c1cce4eff1d416d"/>
    <p:sldId xmlns:r="http://schemas.openxmlformats.org/officeDocument/2006/relationships" id="262" r:id="Re40fc6e45b144b95"/>
    <p:sldId xmlns:r="http://schemas.openxmlformats.org/officeDocument/2006/relationships" id="263" r:id="R7645c09cfeb041f4"/>
    <p:sldId xmlns:r="http://schemas.openxmlformats.org/officeDocument/2006/relationships" id="264" r:id="R8c3177ebf72846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82db164bb8499a" /><Relationship Type="http://schemas.openxmlformats.org/officeDocument/2006/relationships/slideMaster" Target="/ppt/slideMasters/slideMaster1.xml" Id="R59bac1d675ad4871" /><Relationship Type="http://schemas.openxmlformats.org/officeDocument/2006/relationships/notesMaster" Target="/ppt/notesMasters/notesMaster1.xml" Id="Ra53b9b77742d4dac" /><Relationship Type="http://schemas.openxmlformats.org/officeDocument/2006/relationships/presProps" Target="/ppt/presProps.xml" Id="R07526e425f524cfd" /><Relationship Type="http://schemas.openxmlformats.org/officeDocument/2006/relationships/tableStyles" Target="/ppt/tableStyles.xml" Id="Rd91122db076d4c9c" /><Relationship Type="http://schemas.openxmlformats.org/officeDocument/2006/relationships/slide" Target="/ppt/slides/slide1.xml" Id="R58bcde93f64c4f97" /><Relationship Type="http://schemas.openxmlformats.org/officeDocument/2006/relationships/slide" Target="/ppt/slides/slide2.xml" Id="R88b1332be61a4ef5" /><Relationship Type="http://schemas.openxmlformats.org/officeDocument/2006/relationships/slide" Target="/ppt/slides/slide3.xml" Id="R34179bdc1a9f4c17" /><Relationship Type="http://schemas.openxmlformats.org/officeDocument/2006/relationships/slide" Target="/ppt/slides/slide4.xml" Id="Rc9c928738abf4b9f" /><Relationship Type="http://schemas.openxmlformats.org/officeDocument/2006/relationships/slide" Target="/ppt/slides/slide5.xml" Id="R60266de79b6c4df4" /><Relationship Type="http://schemas.openxmlformats.org/officeDocument/2006/relationships/slide" Target="/ppt/slides/slide6.xml" Id="R3c1cce4eff1d416d" /><Relationship Type="http://schemas.openxmlformats.org/officeDocument/2006/relationships/slide" Target="/ppt/slides/slide7.xml" Id="Re40fc6e45b144b95" /><Relationship Type="http://schemas.openxmlformats.org/officeDocument/2006/relationships/slide" Target="/ppt/slides/slide8.xml" Id="R7645c09cfeb041f4" /><Relationship Type="http://schemas.openxmlformats.org/officeDocument/2006/relationships/slide" Target="/ppt/slides/slide9.xml" Id="R8c3177ebf72846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67a4aead424c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bf99c9d4f54b21" /><Relationship Type="http://schemas.openxmlformats.org/officeDocument/2006/relationships/notesMaster" Target="/ppt/notesMasters/notesMaster1.xml" Id="R8580efac4d1240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aa73b359994a94" /><Relationship Type="http://schemas.openxmlformats.org/officeDocument/2006/relationships/notesMaster" Target="/ppt/notesMasters/notesMaster1.xml" Id="Rfd46c8b7188b4d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3d089b41cc4c69" /><Relationship Type="http://schemas.openxmlformats.org/officeDocument/2006/relationships/notesMaster" Target="/ppt/notesMasters/notesMaster1.xml" Id="Raab9f1a9342e43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fc156b7842444b" /><Relationship Type="http://schemas.openxmlformats.org/officeDocument/2006/relationships/notesMaster" Target="/ppt/notesMasters/notesMaster1.xml" Id="Re184a7d5a20e4b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9b7ecb3b2e4b25" /><Relationship Type="http://schemas.openxmlformats.org/officeDocument/2006/relationships/notesMaster" Target="/ppt/notesMasters/notesMaster1.xml" Id="R43cdf4ddac274d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97717ab506495d" /><Relationship Type="http://schemas.openxmlformats.org/officeDocument/2006/relationships/notesMaster" Target="/ppt/notesMasters/notesMaster1.xml" Id="R42d53d0152da4d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b6c043a37714c5a" /><Relationship Type="http://schemas.openxmlformats.org/officeDocument/2006/relationships/notesMaster" Target="/ppt/notesMasters/notesMaster1.xml" Id="Rd626bc662d574d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2570ef973c14020" /><Relationship Type="http://schemas.openxmlformats.org/officeDocument/2006/relationships/notesMaster" Target="/ppt/notesMasters/notesMaster1.xml" Id="R88754dbc5da043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10ce88080c425d" /><Relationship Type="http://schemas.openxmlformats.org/officeDocument/2006/relationships/notesMaster" Target="/ppt/notesMasters/notesMaster1.xml" Id="Re40b85a17ee44f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lead: Shivam Gupta. AI-assisted development is disclosed in CREDITS.md. This presentation describes an implemented supervised-pilot release, not validated adoption. Opening: Imagine opening a pantry tomorrow with a produce gap while another pantry has approved surplus.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https://foodbankiowa.org/app/uploads/2025/08/FY_2025_impact_report_v8.pdf accessed2026-09-22. The scale statistic establishes context, not frequency of mismatch or market demand. We have not conducted operator interviews.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the fictional scenario clearly. Source pantry protected reserve ensures its visitors are not deprioritized. This product does not decide assistance eligibility or collect household identities.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screenshot of the running application with fictitious data. Live demo: generate plan, inspect reasons, reserve produce transfer. Matching is deterministic greedy allocation, not globally optimized road routing. Great-circle distance is a rough screening measure.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 values120 dispatched,112 accepted,8 rejected. Only accepted weight enters throughput; late delivery does not fulfill a missed service. Received inventory is protected by default. Full rejection records0 and a reason. These values are sample outcomes, not real impact.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Running product screenshot. Controls include network isolation, coordinator/driver roles, CSRF, opaque cookie sessions, integer weight arithmetic and atomic writes. Audit is API append-only but not tamperproof against a database admin. Operator records confirmations; no independently verified nonprofit identity or signature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is an unvalidated hypothesis, no customers or revenue claimed. Buyer: regional pantry-network coordinator, not people receiving food. Illustrative monthly economics149 revenue,15 allocated hosting/backup,30 support labor,104 contribution before overhead. No payment collection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pilot, not recruited. Six weeks: baseline week1; supervised weeks2-5; evaluation week6. Targets must be agreed before start. Suggested25% lower coordination time,20% lower category gap,95% receipts complete. Small uncontrolled pilot cannot establish causal household food insecurity reduction.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with a modest concrete ask. Do not claim a signed pilot or partners. Eligibility and attendance are participant responsibilities outlined in submission/START-HERE.md.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c9f98a02554b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3edd6de07647c5" /><Relationship Type="http://schemas.openxmlformats.org/officeDocument/2006/relationships/slideLayout" Target="/ppt/slideLayouts/slideLayout1.xml" Id="R1ebe3e2140d541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be3e2140d541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057a9766b4eed" /><Relationship Type="http://schemas.openxmlformats.org/officeDocument/2006/relationships/notesSlide" Target="/ppt/notesSlides/notesSlide1.xml" Id="Rd8fbf0776a3949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383bf02414036" /><Relationship Type="http://schemas.openxmlformats.org/officeDocument/2006/relationships/notesSlide" Target="/ppt/notesSlides/notesSlide2.xml" Id="R862015f5bff249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89bae3f664597" /><Relationship Type="http://schemas.openxmlformats.org/officeDocument/2006/relationships/notesSlide" Target="/ppt/notesSlides/notesSlide3.xml" Id="Rc672bbd9b81940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0e9f88fd5f46c0" /><Relationship Type="http://schemas.openxmlformats.org/officeDocument/2006/relationships/image" Target="/ppt/media/image.png" Id="Re24e14aeaad04062" /><Relationship Type="http://schemas.openxmlformats.org/officeDocument/2006/relationships/notesSlide" Target="/ppt/notesSlides/notesSlide4.xml" Id="R69303e84a4544e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9b6bc639e4ce4" /><Relationship Type="http://schemas.openxmlformats.org/officeDocument/2006/relationships/notesSlide" Target="/ppt/notesSlides/notesSlide5.xml" Id="R88e38955239d4b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ea34dac1b4ca3" /><Relationship Type="http://schemas.openxmlformats.org/officeDocument/2006/relationships/image" Target="/ppt/media/image2.png" Id="R01d21bdef7434e5e" /><Relationship Type="http://schemas.openxmlformats.org/officeDocument/2006/relationships/notesSlide" Target="/ppt/notesSlides/notesSlide6.xml" Id="Rfd7d937337d448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8ad3e5fe894236" /><Relationship Type="http://schemas.openxmlformats.org/officeDocument/2006/relationships/notesSlide" Target="/ppt/notesSlides/notesSlide7.xml" Id="R1d1649f0c8b146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af97675284c80" /><Relationship Type="http://schemas.openxmlformats.org/officeDocument/2006/relationships/notesSlide" Target="/ppt/notesSlides/notesSlide8.xml" Id="R5cdb0955ebc340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d710152974289" /><Relationship Type="http://schemas.openxmlformats.org/officeDocument/2006/relationships/notesSlide" Target="/ppt/notesSlides/notesSlide9.xml" Id="Rc882e04e5bbd4a2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93611-4164-4FBF-87F9-8CE1D51E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904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ED9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ED9C"/>
                </a:solidFill>
                <a:latin typeface="Arial"/>
                <a:ea typeface="Arial"/>
                <a:cs typeface="Arial"/>
              </a:rPr>
              <a:t>PANTRY RELAY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B9873-2320-4486-A223-7D9E742F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0953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F5F3E9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5F3E9"/>
                </a:solidFill>
                <a:latin typeface="Georgia"/>
                <a:ea typeface="Georgia"/>
                <a:cs typeface="Georgia"/>
              </a:rPr>
              <a:t>Make the food</a:t>
            </a:r>
          </a:p>
          <a:p xmlns:a="http://schemas.openxmlformats.org/drawingml/2006/main">
            <a:pPr>
              <a:defRPr sz="6150" b="0">
                <a:solidFill>
                  <a:srgbClr val="F5F3E9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5F3E9"/>
                </a:solidFill>
                <a:latin typeface="Georgia"/>
                <a:ea typeface="Georgia"/>
                <a:cs typeface="Georgia"/>
              </a:rPr>
              <a:t>already here</a:t>
            </a:r>
          </a:p>
          <a:p xmlns:a="http://schemas.openxmlformats.org/drawingml/2006/main">
            <a:pPr>
              <a:defRPr sz="6150" b="0">
                <a:solidFill>
                  <a:srgbClr val="F5F3E9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5F3E9"/>
                </a:solidFill>
                <a:latin typeface="Georgia"/>
                <a:ea typeface="Georgia"/>
                <a:cs typeface="Georgia"/>
              </a:rPr>
              <a:t>go further.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AE2E1-1039-4B51-8814-EB24EB60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291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5F3E9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5F3E9"/>
                </a:solidFill>
                <a:latin typeface="Arial"/>
                <a:ea typeface="Arial"/>
                <a:cs typeface="Arial"/>
              </a:rPr>
              <a:t>Surplus coordination for a trusted pantry network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85818-2C5F-48EC-A168-4F2C4F98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857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8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8BB"/>
                </a:solidFill>
                <a:latin typeface="Arial"/>
                <a:ea typeface="Arial"/>
                <a:cs typeface="Arial"/>
              </a:rPr>
              <a:t>Shivam Gupta</a:t>
            </a:r>
          </a:p>
          <a:p xmlns:a="http://schemas.openxmlformats.org/drawingml/2006/main">
            <a:pPr>
              <a:defRPr sz="1650" b="0">
                <a:solidFill>
                  <a:srgbClr val="B7C8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8BB"/>
                </a:solidFill>
                <a:latin typeface="Arial"/>
                <a:ea typeface="Arial"/>
                <a:cs typeface="Arial"/>
              </a:rPr>
              <a:t>Hack Away Hunger 2026</a:t>
            </a:r>
          </a:p>
        </p:txBody>
      </p:sp>
    </p:spTree>
    <p:extLst>
      <p:ext uri="{BB962C8B-B14F-4D97-AF65-F5344CB8AC3E}">
        <p14:creationId xmlns:p14="http://schemas.microsoft.com/office/powerpoint/2010/main" val="941431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21078-1497-411A-BC01-E65B11B3E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3372D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3372D"/>
                </a:solidFill>
                <a:latin typeface="Georgia"/>
                <a:ea typeface="Georgia"/>
                <a:cs typeface="Georgia"/>
              </a:rPr>
              <a:t>Coordination at network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16CB8-A8D9-43E0-BBAE-B1D39E6B6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0" b="0">
                <a:solidFill>
                  <a:srgbClr val="173E32"/>
                </a:solidFill>
                <a:latin typeface="Arial"/>
                <a:ea typeface="Arial"/>
                <a:cs typeface="Arial"/>
              </a:defRPr>
            </a:pPr>
            <a:r>
              <a:rPr sz="10500" b="0">
                <a:solidFill>
                  <a:srgbClr val="173E32"/>
                </a:solidFill>
                <a:latin typeface="Arial"/>
                <a:ea typeface="Arial"/>
                <a:cs typeface="Arial"/>
              </a:rPr>
              <a:t>700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CDDF60-5F5E-4F71-A5F9-B8E140CD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3372D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372D"/>
                </a:solidFill>
                <a:latin typeface="Arial"/>
                <a:ea typeface="Arial"/>
                <a:cs typeface="Arial"/>
              </a:rPr>
              <a:t>partners and programs across 55 Iowa counties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81AEFB-A901-4BB8-AE1F-B300DCCB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Food Bank of Iowa describes a network large enough to make</a:t>
            </a:r>
          </a:p>
          <a:p xmlns:a="http://schemas.openxmlformats.org/drawingml/2006/main">
            <a:pPr>
              <a:defRPr sz="20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coordination matter. The unanswered question is how often</a:t>
            </a:r>
          </a:p>
          <a:p xmlns:a="http://schemas.openxmlformats.org/drawingml/2006/main">
            <a:pPr>
              <a:defRPr sz="20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one pantry’s approved surplus can fill another’s next-service gap.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1F40F-1D62-4CF9-9031-18DB59CE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Source: Food Bank of Iowa, FY2025 Impact Report. No partnership implied.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E112D-4DFD-40F8-9164-1E5EA49E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PANTRY RELAY    /    SHIVAM GUPTA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AD0EB-0859-48BF-AA07-DE7C4628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244290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9E8FC2-FE72-4049-937F-681B2EF0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953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23372D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3372D"/>
                </a:solidFill>
                <a:latin typeface="Georgia"/>
                <a:ea typeface="Georgia"/>
                <a:cs typeface="Georgia"/>
              </a:rPr>
              <a:t>A shortfall before tomorrow’s service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A94FF-09CD-40A1-A02E-C8E431DD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52600"/>
            <a:ext cx="514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E3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E32"/>
                </a:solidFill>
                <a:latin typeface="Arial"/>
                <a:ea typeface="Arial"/>
                <a:cs typeface="Arial"/>
              </a:rPr>
              <a:t>Cedar Grove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94AE-39DA-4350-BB14-1F9691FA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9825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Produce above its own protected reserve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991B8-EC24-4AE5-8B72-D3E22ED1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52600"/>
            <a:ext cx="4857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73E32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E32"/>
                </a:solidFill>
                <a:latin typeface="Arial"/>
                <a:ea typeface="Arial"/>
                <a:cs typeface="Arial"/>
              </a:rPr>
              <a:t>Eastside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74F67-2059-4A3C-9662-A00BBE52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09825"/>
            <a:ext cx="4648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An upcoming service needs</a:t>
            </a:r>
          </a:p>
          <a:p xmlns:a="http://schemas.openxmlformats.org/drawingml/2006/main">
            <a:pPr>
              <a:defRPr sz="210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120 lb of produce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7B190D-746B-4AFF-A685-53D6AEAB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100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0">
                <a:solidFill>
                  <a:srgbClr val="23372D"/>
                </a:solidFill>
                <a:latin typeface="Georgia"/>
                <a:ea typeface="Georgia"/>
                <a:cs typeface="Georgia"/>
              </a:defRPr>
            </a:pPr>
            <a:r>
              <a:rPr sz="3075" b="0">
                <a:solidFill>
                  <a:srgbClr val="23372D"/>
                </a:solidFill>
                <a:latin typeface="Georgia"/>
                <a:ea typeface="Georgia"/>
                <a:cs typeface="Georgia"/>
              </a:rPr>
              <a:t>A useful transfer needs more than a match.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0FFF9F-1882-49C2-8FBB-370CF2B6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86325"/>
            <a:ext cx="1028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The receiving pantry must agree. Transport must fit.</a:t>
            </a:r>
          </a:p>
          <a:p xmlns:a="http://schemas.openxmlformats.org/drawingml/2006/main">
            <a:pPr>
              <a:defRPr sz="210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Someone must record the pounds actually accepted.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CF18D-CE9E-4555-A424-F059C3E9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8645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Illustrative scenario. All pantry names and operating data are fictitious.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91F5F-A161-4D5C-8339-F3ACC77D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PANTRY RELAY    /    SHIVAM GUPTA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415E8B-0CF2-4C93-B2B3-A7548827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125675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814A8-7ABC-4684-8E1C-A27BF48F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23372D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23372D"/>
                </a:solidFill>
                <a:latin typeface="Georgia"/>
                <a:ea typeface="Georgia"/>
                <a:cs typeface="Georgia"/>
              </a:rPr>
              <a:t>An explainable transfer proposal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e14aeaad04062"/>
          <a:stretch xmlns:a="http://schemas.openxmlformats.org/drawingml/2006/main"/>
        </p:blipFill>
        <p:spPr>
          <a:xfrm xmlns:a="http://schemas.openxmlformats.org/drawingml/2006/main">
            <a:off x="2756154" y="1162050"/>
            <a:ext cx="6679692" cy="46386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E1FC-96D0-4C95-BC86-D1EE6071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95975"/>
            <a:ext cx="1047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Review the food, quantities and constraints before reserving stock.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0DC83-1EBC-4D40-B623-4870DA9B3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PANTRY RELAY    /    SHIVAM GUPTA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3D7796-C40C-4CFC-9E44-FD1C40C8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3313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A5BACE-D94D-466A-B1C1-7B2DF1D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F5F3E9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F5F3E9"/>
                </a:solidFill>
                <a:latin typeface="Georgia"/>
                <a:ea typeface="Georgia"/>
                <a:cs typeface="Georgia"/>
              </a:rPr>
              <a:t>The receipt is the outcome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DB31C-E4AE-489B-B0D5-FB807253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95475"/>
            <a:ext cx="5334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A9BEB1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A9BEB1"/>
                </a:solidFill>
                <a:latin typeface="Arial"/>
                <a:ea typeface="Arial"/>
                <a:cs typeface="Arial"/>
              </a:rPr>
              <a:t>120 lb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413DA6-7FE6-4DFE-B17B-B9F170D0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718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A9BEB1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9BEB1"/>
                </a:solidFill>
                <a:latin typeface="Arial"/>
                <a:ea typeface="Arial"/>
                <a:cs typeface="Arial"/>
              </a:rPr>
              <a:t>dispatched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944060-9D6F-4B3A-912A-91985798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95475"/>
            <a:ext cx="50958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D9ED9C"/>
                </a:solidFill>
                <a:latin typeface="Arial"/>
                <a:ea typeface="Arial"/>
                <a:cs typeface="Arial"/>
              </a:defRPr>
            </a:pPr>
            <a:r>
              <a:rPr sz="7200" b="0">
                <a:solidFill>
                  <a:srgbClr val="D9ED9C"/>
                </a:solidFill>
                <a:latin typeface="Arial"/>
                <a:ea typeface="Arial"/>
                <a:cs typeface="Arial"/>
              </a:rPr>
              <a:t>112 lb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E90796-930B-49FA-9CC7-8D34BB34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171825"/>
            <a:ext cx="5067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5F3E9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5F3E9"/>
                </a:solidFill>
                <a:latin typeface="Arial"/>
                <a:ea typeface="Arial"/>
                <a:cs typeface="Arial"/>
              </a:rPr>
              <a:t>accepted at the destination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2A0977-568A-4FD5-A3AF-94FAAFF7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F5F3E9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F5F3E9"/>
                </a:solidFill>
                <a:latin typeface="Arial"/>
                <a:ea typeface="Arial"/>
                <a:cs typeface="Arial"/>
              </a:rPr>
              <a:t>8 lb damaged. The missing quantity reopens the need.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65984-E97E-414F-8603-2B22D686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673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B7C8B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7C8BB"/>
                </a:solidFill>
                <a:latin typeface="Arial"/>
                <a:ea typeface="Arial"/>
                <a:cs typeface="Arial"/>
              </a:rPr>
              <a:t>Illustrative partial receipt. Accepted weight is not a count of meals or people fed.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4A631-6FB1-4682-A745-6C7B827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8B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8BB"/>
                </a:solidFill>
                <a:latin typeface="Arial"/>
                <a:ea typeface="Arial"/>
                <a:cs typeface="Arial"/>
              </a:rPr>
              <a:t>PANTRY RELAY    /    SHIVAM GUPTA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F674F-5F69-41A0-A167-ACF585CD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B7C8B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7C8B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118864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6E5BC2-104F-4BCF-83E8-F9775036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23372D"/>
                </a:solidFill>
                <a:latin typeface="Georgia"/>
                <a:ea typeface="Georgia"/>
                <a:cs typeface="Georgia"/>
              </a:defRPr>
            </a:pPr>
            <a:r>
              <a:rPr sz="3375" b="0">
                <a:solidFill>
                  <a:srgbClr val="23372D"/>
                </a:solidFill>
                <a:latin typeface="Georgia"/>
                <a:ea typeface="Georgia"/>
                <a:cs typeface="Georgia"/>
              </a:rPr>
              <a:t>A complete handoff record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21bdef7434e5e"/>
          <a:stretch xmlns:a="http://schemas.openxmlformats.org/drawingml/2006/main"/>
        </p:blipFill>
        <p:spPr>
          <a:xfrm xmlns:a="http://schemas.openxmlformats.org/drawingml/2006/main">
            <a:off x="2907030" y="1257300"/>
            <a:ext cx="6377940" cy="442912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ACB395-FD4B-4674-9BC6-13A870E63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97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Authenticated actions, stock reservations, receipt differences and an exportable audit trail.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B0FFE5-5BB8-420F-A319-489DC008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PANTRY RELAY    /    SHIVAM GUPTA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05AE01-FA59-466A-BFB3-48BD44D5A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44733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073450-A8A3-4132-A02F-C7AC7CE6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76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3372D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3372D"/>
                </a:solidFill>
                <a:latin typeface="Georgia"/>
                <a:ea typeface="Georgia"/>
                <a:cs typeface="Georgia"/>
              </a:rPr>
              <a:t>A proposed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FCADF-2885-4396-90DA-F9CD2994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6191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300" b="0">
                <a:solidFill>
                  <a:srgbClr val="173E32"/>
                </a:solidFill>
                <a:latin typeface="Arial"/>
                <a:ea typeface="Arial"/>
                <a:cs typeface="Arial"/>
              </a:defRPr>
            </a:pPr>
            <a:r>
              <a:rPr sz="9300" b="0">
                <a:solidFill>
                  <a:srgbClr val="173E32"/>
                </a:solidFill>
                <a:latin typeface="Arial"/>
                <a:ea typeface="Arial"/>
                <a:cs typeface="Arial"/>
              </a:rPr>
              <a:t>$149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2E3098-64C5-41FF-899C-479B8105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10287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23372D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372D"/>
                </a:solidFill>
                <a:latin typeface="Arial"/>
                <a:ea typeface="Arial"/>
                <a:cs typeface="Arial"/>
              </a:rPr>
              <a:t>per network / month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EB62E-0F36-4877-9275-1AEBCA2C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10287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Up to 10 pantry sites. Free self-hosting.</a:t>
            </a:r>
          </a:p>
          <a:p xmlns:a="http://schemas.openxmlformats.org/drawingml/2006/main">
            <a:pPr>
              <a:defRPr sz="225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A six-week supervised pilot comes first.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B4909-CA77-4505-8CAA-6B21EE2A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10200"/>
            <a:ext cx="1042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At a hypothetical $25/hour staff cost, the price requires</a:t>
            </a:r>
          </a:p>
          <a:p xmlns:a="http://schemas.openxmlformats.org/drawingml/2006/main">
            <a:pPr>
              <a:defRPr sz="1800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about 6 hours saved per month to justify itself on time alone.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36E4F-5150-4217-BC5C-397887431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PANTRY RELAY    /    SHIVAM GUPTA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08457-7804-4CE3-8B9B-0016C623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16164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2EC74-B6A1-41D4-80B8-CDA4771B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"/>
            <a:ext cx="1085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0">
                <a:solidFill>
                  <a:srgbClr val="23372D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23372D"/>
                </a:solidFill>
                <a:latin typeface="Georgia"/>
                <a:ea typeface="Georgia"/>
                <a:cs typeface="Georgia"/>
              </a:rPr>
              <a:t>Six weeks to test the real value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C9818-FB13-4219-A1FF-188DBCE0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73E32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73E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7A44C-D3D3-4228-8A7F-F1518AFC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68592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37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372D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15203-86FD-4010-BD52-404C668EA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286000"/>
            <a:ext cx="8858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Observe existing transfers, entry effort and service gaps.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B103E-B129-45BF-BDF0-194EB5EC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2775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73E32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73E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3640C4-33B0-4921-81D1-2386F377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623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37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372D"/>
                </a:solidFill>
                <a:latin typeface="Arial"/>
                <a:ea typeface="Arial"/>
                <a:cs typeface="Arial"/>
              </a:rPr>
              <a:t>Three pantries, one coordinator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30D05-185C-49CD-908C-8C191F29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762375"/>
            <a:ext cx="904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Run approved transfers with existing transport and clear safety ownership.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57DE3A-F010-4939-A784-2A2FC0F5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104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25" b="0">
                <a:solidFill>
                  <a:srgbClr val="173E32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173E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2FE89-E450-4709-A6A4-61565FCFF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006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337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372D"/>
                </a:solidFill>
                <a:latin typeface="Arial"/>
                <a:ea typeface="Arial"/>
                <a:cs typeface="Arial"/>
              </a:rPr>
              <a:t>A continuation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658160-1E7B-4832-8500-3C680275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410200"/>
            <a:ext cx="904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Compare category gaps, staff time, transport effort and accepted weight.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DC106-759A-4AB6-B03D-3E682BD4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PANTRY RELAY    /    SHIVAM GUPTA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D94420-4A4B-4151-904B-8B775F241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43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26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572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45396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3E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3640DE-554A-4B24-B53D-72E7248AB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"/>
            <a:ext cx="1038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9ED9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9ED9C"/>
                </a:solidFill>
                <a:latin typeface="Arial"/>
                <a:ea typeface="Arial"/>
                <a:cs typeface="Arial"/>
              </a:rPr>
              <a:t>THE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6AE2A9-5609-4D84-B06F-EB4E8A0A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4025"/>
            <a:ext cx="1090612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025" b="0">
                <a:solidFill>
                  <a:srgbClr val="F5F3E9"/>
                </a:solidFill>
                <a:latin typeface="Georgia"/>
                <a:ea typeface="Georgia"/>
                <a:cs typeface="Georgia"/>
              </a:defRPr>
            </a:pPr>
            <a:r>
              <a:rPr sz="5025" b="0">
                <a:solidFill>
                  <a:srgbClr val="F5F3E9"/>
                </a:solidFill>
                <a:latin typeface="Georgia"/>
                <a:ea typeface="Georgia"/>
                <a:cs typeface="Georgia"/>
              </a:rPr>
              <a:t>One network.</a:t>
            </a:r>
          </a:p>
          <a:p xmlns:a="http://schemas.openxmlformats.org/drawingml/2006/main">
            <a:pPr>
              <a:defRPr sz="5025" b="0">
                <a:solidFill>
                  <a:srgbClr val="F5F3E9"/>
                </a:solidFill>
                <a:latin typeface="Georgia"/>
                <a:ea typeface="Georgia"/>
                <a:cs typeface="Georgia"/>
              </a:defRPr>
            </a:pPr>
            <a:r>
              <a:rPr sz="5025" b="0">
                <a:solidFill>
                  <a:srgbClr val="F5F3E9"/>
                </a:solidFill>
                <a:latin typeface="Georgia"/>
                <a:ea typeface="Georgia"/>
                <a:cs typeface="Georgia"/>
              </a:rPr>
              <a:t>A real operating test.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71D51-02A1-4CF4-AB81-4EE0336D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38625"/>
            <a:ext cx="1066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5F3E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3E9"/>
                </a:solidFill>
                <a:latin typeface="Arial"/>
                <a:ea typeface="Arial"/>
                <a:cs typeface="Arial"/>
              </a:rPr>
              <a:t>We’re looking for a coordinator and three pantries</a:t>
            </a:r>
          </a:p>
          <a:p xmlns:a="http://schemas.openxmlformats.org/drawingml/2006/main">
            <a:pPr>
              <a:defRPr sz="2400" b="0">
                <a:solidFill>
                  <a:srgbClr val="F5F3E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5F3E9"/>
                </a:solidFill>
                <a:latin typeface="Arial"/>
                <a:ea typeface="Arial"/>
                <a:cs typeface="Arial"/>
              </a:rPr>
              <a:t>to test whether the next service can be better supplied.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CA6359-41B4-4AFC-A40A-8029658F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60070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7C8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8BB"/>
                </a:solidFill>
                <a:latin typeface="Arial"/>
                <a:ea typeface="Arial"/>
                <a:cs typeface="Arial"/>
              </a:rPr>
              <a:t>Pantry Relay  /  Shivam Gupta</a:t>
            </a:r>
          </a:p>
          <a:p xmlns:a="http://schemas.openxmlformats.org/drawingml/2006/main">
            <a:pPr>
              <a:defRPr sz="1650" b="0">
                <a:solidFill>
                  <a:srgbClr val="B7C8B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7C8BB"/>
                </a:solidFill>
                <a:latin typeface="Arial"/>
                <a:ea typeface="Arial"/>
                <a:cs typeface="Arial"/>
              </a:rPr>
              <a:t>github.com/shi1720/Hack-Away-Hunger</a:t>
            </a:r>
          </a:p>
        </p:txBody>
      </p:sp>
    </p:spTree>
    <p:extLst>
      <p:ext uri="{BB962C8B-B14F-4D97-AF65-F5344CB8AC3E}">
        <p14:creationId xmlns:p14="http://schemas.microsoft.com/office/powerpoint/2010/main" val="8247680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2026-09-22T05:11:18.1100000Z</dcterms:created>
  <dcterms:modified xsi:type="dcterms:W3CDTF">2026-09-22T05:11:18.1100000Z</dcterms:modified>
</coreProperties>
</file>